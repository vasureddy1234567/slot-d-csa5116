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/>
          <p:cNvSpPr/>
          <p:nvPr/>
        </p:nvSpPr>
        <p:spPr>
          <a:xfrm>
            <a:off x="868680" y="1234440"/>
            <a:ext cx="1737360" cy="1920240"/>
          </a:xfrm>
          <a:prstGeom prst="hexagon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90F1C"/>
                </a:solidFill>
              </a:defRPr>
            </a:pPr>
            <a:r>
              <a:t>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188720"/>
            <a:ext cx="85039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 Display"/>
              </a:defRPr>
            </a:pPr>
            <a:r>
              <a:t>Security Attacks, Threats,</a:t>
            </a:r>
            <a:br/>
            <a:r>
              <a:t>Risks and Their Impact on Security Goals</a:t>
            </a:r>
          </a:p>
          <a:p>
            <a:pPr>
              <a:spcBef>
                <a:spcPts val="1200"/>
              </a:spcBef>
              <a:defRPr sz="1600">
                <a:solidFill>
                  <a:srgbClr val="AFBCCD"/>
                </a:solidFill>
              </a:defRPr>
            </a:pPr>
            <a:r>
              <a:t>Cybersecurity fundamentals and the CIA Triad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EAB217-10E7-8975-5262-81CEC7FA9EB6}"/>
              </a:ext>
            </a:extLst>
          </p:cNvPr>
          <p:cNvSpPr txBox="1"/>
          <p:nvPr/>
        </p:nvSpPr>
        <p:spPr>
          <a:xfrm>
            <a:off x="7610168" y="4276248"/>
            <a:ext cx="30332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Name:K.Vasudeva Reddy</a:t>
            </a:r>
          </a:p>
          <a:p>
            <a:r>
              <a:rPr lang="en-US" dirty="0">
                <a:solidFill>
                  <a:schemeClr val="bg1"/>
                </a:solidFill>
              </a:rPr>
              <a:t>Reg no:192411256</a:t>
            </a:r>
          </a:p>
          <a:p>
            <a:r>
              <a:rPr lang="en-US" dirty="0">
                <a:solidFill>
                  <a:schemeClr val="bg1"/>
                </a:solidFill>
              </a:rPr>
              <a:t>Course code:CSA116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C7940A-49B4-08F5-1C3A-DEBF4EC31A36}"/>
              </a:ext>
            </a:extLst>
          </p:cNvPr>
          <p:cNvSpPr txBox="1"/>
          <p:nvPr/>
        </p:nvSpPr>
        <p:spPr>
          <a:xfrm>
            <a:off x="7610168" y="5136420"/>
            <a:ext cx="230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CO1_ AT3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1. Threats, Attacks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CCD"/>
                </a:solidFill>
              </a:defRPr>
            </a:pPr>
            <a:r>
              <a:t>Three connected concepts in cybersecurity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20440" cy="3840480"/>
          </a:xfrm>
          <a:prstGeom prst="roundRect">
            <a:avLst/>
          </a:prstGeom>
          <a:solidFill>
            <a:srgbClr val="141E30"/>
          </a:solidFill>
          <a:ln>
            <a:solidFill>
              <a:srgbClr val="28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64008" cy="3840480"/>
          </a:xfrm>
          <a:prstGeom prst="rect">
            <a:avLst/>
          </a:prstGeom>
          <a:solidFill>
            <a:srgbClr val="F5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089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SECURITY THREAT</a:t>
            </a:r>
          </a:p>
          <a:p>
            <a:pPr>
              <a:spcBef>
                <a:spcPts val="900"/>
              </a:spcBef>
              <a:defRPr sz="1300">
                <a:solidFill>
                  <a:srgbClr val="AFBCCD"/>
                </a:solidFill>
              </a:defRPr>
            </a:pPr>
            <a:r>
              <a:t>A potential danger that can exploit a weakness.</a:t>
            </a:r>
            <a:br/>
            <a:br/>
            <a:r>
              <a:t>Examples:</a:t>
            </a:r>
            <a:br/>
            <a:r>
              <a:t>• Malware</a:t>
            </a:r>
            <a:br/>
            <a:r>
              <a:t>• Phishing</a:t>
            </a:r>
            <a:br/>
            <a:r>
              <a:t>• Insider threats</a:t>
            </a:r>
            <a:br/>
            <a:r>
              <a:t>• Natural disasters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520440" cy="3840480"/>
          </a:xfrm>
          <a:prstGeom prst="roundRect">
            <a:avLst/>
          </a:prstGeom>
          <a:solidFill>
            <a:srgbClr val="141E30"/>
          </a:solidFill>
          <a:ln>
            <a:solidFill>
              <a:srgbClr val="28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64008" cy="3840480"/>
          </a:xfrm>
          <a:prstGeom prst="rect">
            <a:avLst/>
          </a:prstGeom>
          <a:solidFill>
            <a:srgbClr val="F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1089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SECURITY ATTACK</a:t>
            </a:r>
          </a:p>
          <a:p>
            <a:pPr>
              <a:spcBef>
                <a:spcPts val="900"/>
              </a:spcBef>
              <a:defRPr sz="1300">
                <a:solidFill>
                  <a:srgbClr val="AFBCCD"/>
                </a:solidFill>
              </a:defRPr>
            </a:pPr>
            <a:r>
              <a:t>An actual attempt to compromise a system, network or data.</a:t>
            </a:r>
            <a:br/>
            <a:br/>
            <a:r>
              <a:t>Examples:</a:t>
            </a:r>
            <a:br/>
            <a:r>
              <a:t>• Eavesdropping</a:t>
            </a:r>
            <a:br/>
            <a:r>
              <a:t>• Data modification</a:t>
            </a:r>
            <a:br/>
            <a:r>
              <a:t>• DoS / DDoS</a:t>
            </a:r>
            <a:br/>
            <a:r>
              <a:t>• Replay attacks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520440" cy="3840480"/>
          </a:xfrm>
          <a:prstGeom prst="roundRect">
            <a:avLst/>
          </a:prstGeom>
          <a:solidFill>
            <a:srgbClr val="141E30"/>
          </a:solidFill>
          <a:ln>
            <a:solidFill>
              <a:srgbClr val="28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64008" cy="384048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31089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SECURITY RISK</a:t>
            </a:r>
          </a:p>
          <a:p>
            <a:pPr>
              <a:spcBef>
                <a:spcPts val="900"/>
              </a:spcBef>
              <a:defRPr sz="1300">
                <a:solidFill>
                  <a:srgbClr val="AFBCCD"/>
                </a:solidFill>
              </a:defRPr>
            </a:pPr>
            <a:r>
              <a:t>The possibility of loss when a threat exploits a vulnerability.</a:t>
            </a:r>
            <a:br/>
            <a:br/>
            <a:r>
              <a:t>Risk depends on:</a:t>
            </a:r>
            <a:br/>
            <a:r>
              <a:t>• Likelihood</a:t>
            </a:r>
            <a:br/>
            <a:r>
              <a:t>• Impact</a:t>
            </a:r>
            <a:br/>
            <a:r>
              <a:t>• Vulnerability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2. Types of Security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CCD"/>
                </a:solidFill>
              </a:defRPr>
            </a:pPr>
            <a:r>
              <a:t>Passive attacks observe; active attacks alter or disrupt.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3977639"/>
          </a:xfrm>
          <a:prstGeom prst="roundRect">
            <a:avLst/>
          </a:prstGeom>
          <a:solidFill>
            <a:srgbClr val="141E30"/>
          </a:solidFill>
          <a:ln>
            <a:solidFill>
              <a:srgbClr val="28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" cy="3977639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8463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PASSIVE ATTACK</a:t>
            </a:r>
          </a:p>
          <a:p>
            <a:pPr>
              <a:spcBef>
                <a:spcPts val="900"/>
              </a:spcBef>
              <a:defRPr sz="1300">
                <a:solidFill>
                  <a:srgbClr val="AFBCCD"/>
                </a:solidFill>
              </a:defRPr>
            </a:pPr>
            <a:r>
              <a:t>• Attacker observes information without modifying it</a:t>
            </a:r>
            <a:br/>
            <a:r>
              <a:t>• Usually targets confidentiality</a:t>
            </a:r>
            <a:br/>
            <a:r>
              <a:t>• Difficult to detect</a:t>
            </a:r>
            <a:br/>
            <a:br/>
            <a:r>
              <a:t>Examples: eavesdropping, packet sniffing, traffic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57800" cy="3977639"/>
          </a:xfrm>
          <a:prstGeom prst="roundRect">
            <a:avLst/>
          </a:prstGeom>
          <a:solidFill>
            <a:srgbClr val="141E30"/>
          </a:solidFill>
          <a:ln>
            <a:solidFill>
              <a:srgbClr val="28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64008" cy="3977639"/>
          </a:xfrm>
          <a:prstGeom prst="rect">
            <a:avLst/>
          </a:prstGeom>
          <a:solidFill>
            <a:srgbClr val="F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8463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ACTIVE ATTACK</a:t>
            </a:r>
          </a:p>
          <a:p>
            <a:pPr>
              <a:spcBef>
                <a:spcPts val="900"/>
              </a:spcBef>
              <a:defRPr sz="1300">
                <a:solidFill>
                  <a:srgbClr val="AFBCCD"/>
                </a:solidFill>
              </a:defRPr>
            </a:pPr>
            <a:r>
              <a:t>• Attacker changes, destroys or disrupts information</a:t>
            </a:r>
            <a:br/>
            <a:r>
              <a:t>• Often affects integrity and availability</a:t>
            </a:r>
            <a:br/>
            <a:br/>
            <a:r>
              <a:t>Examples: DoS/DDoS, replay, message modification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3. Security Goals — CIA Triad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CCD"/>
                </a:solidFill>
              </a:defRPr>
            </a:pPr>
            <a:r>
              <a:t>The three primary objectives of information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20440" cy="3977639"/>
          </a:xfrm>
          <a:prstGeom prst="roundRect">
            <a:avLst/>
          </a:prstGeom>
          <a:solidFill>
            <a:srgbClr val="141E30"/>
          </a:solidFill>
          <a:ln>
            <a:solidFill>
              <a:srgbClr val="28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64008" cy="3977639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CONFIDENTIALITY</a:t>
            </a:r>
          </a:p>
          <a:p>
            <a:pPr>
              <a:spcBef>
                <a:spcPts val="900"/>
              </a:spcBef>
              <a:defRPr sz="1300">
                <a:solidFill>
                  <a:srgbClr val="AFBCCD"/>
                </a:solidFill>
              </a:defRPr>
            </a:pPr>
            <a:r>
              <a:t>Prevents unauthorized access to information.</a:t>
            </a:r>
            <a:br/>
            <a:br/>
            <a:r>
              <a:t>Examples:</a:t>
            </a:r>
            <a:br/>
            <a:r>
              <a:t>• Encryption</a:t>
            </a:r>
            <a:br/>
            <a:r>
              <a:t>• Passwords</a:t>
            </a:r>
            <a:br/>
            <a:r>
              <a:t>• Access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520440" cy="3977639"/>
          </a:xfrm>
          <a:prstGeom prst="roundRect">
            <a:avLst/>
          </a:prstGeom>
          <a:solidFill>
            <a:srgbClr val="141E30"/>
          </a:solidFill>
          <a:ln>
            <a:solidFill>
              <a:srgbClr val="28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64008" cy="3977639"/>
          </a:xfrm>
          <a:prstGeom prst="rect">
            <a:avLst/>
          </a:prstGeom>
          <a:solidFill>
            <a:srgbClr val="50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INTEGRITY</a:t>
            </a:r>
          </a:p>
          <a:p>
            <a:pPr>
              <a:spcBef>
                <a:spcPts val="900"/>
              </a:spcBef>
              <a:defRPr sz="1300">
                <a:solidFill>
                  <a:srgbClr val="AFBCCD"/>
                </a:solidFill>
              </a:defRPr>
            </a:pPr>
            <a:r>
              <a:t>Ensures information remains accurate and is not improperly changed.</a:t>
            </a:r>
            <a:br/>
            <a:br/>
            <a:r>
              <a:t>Examples:</a:t>
            </a:r>
            <a:br/>
            <a:r>
              <a:t>• Hashing</a:t>
            </a:r>
            <a:br/>
            <a:r>
              <a:t>• Digital signatures</a:t>
            </a:r>
            <a:br/>
            <a:r>
              <a:t>• File integrity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520440" cy="3977639"/>
          </a:xfrm>
          <a:prstGeom prst="roundRect">
            <a:avLst/>
          </a:prstGeom>
          <a:solidFill>
            <a:srgbClr val="141E30"/>
          </a:solidFill>
          <a:ln>
            <a:solidFill>
              <a:srgbClr val="28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64008" cy="3977639"/>
          </a:xfrm>
          <a:prstGeom prst="rect">
            <a:avLst/>
          </a:prstGeom>
          <a:solidFill>
            <a:srgbClr val="F5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AVAILABILITY</a:t>
            </a:r>
          </a:p>
          <a:p>
            <a:pPr>
              <a:spcBef>
                <a:spcPts val="900"/>
              </a:spcBef>
              <a:defRPr sz="1300">
                <a:solidFill>
                  <a:srgbClr val="AFBCCD"/>
                </a:solidFill>
              </a:defRPr>
            </a:pPr>
            <a:r>
              <a:t>Ensures systems and information are accessible when required.</a:t>
            </a:r>
            <a:br/>
            <a:br/>
            <a:r>
              <a:t>Examples:</a:t>
            </a:r>
            <a:br/>
            <a:r>
              <a:t>• Backups</a:t>
            </a:r>
            <a:br/>
            <a:r>
              <a:t>• Redundancy</a:t>
            </a:r>
            <a:br/>
            <a:r>
              <a:t>• DDoS protection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4. Impact of Attacks on Security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CCD"/>
                </a:solidFill>
              </a:defRPr>
            </a:pPr>
            <a:r>
              <a:t>Typical impact of common cybersecurity attacks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8356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90F1C"/>
                          </a:solidFill>
                        </a:defRPr>
                      </a:pPr>
                      <a:r>
                        <a:t>Attack</a:t>
                      </a:r>
                    </a:p>
                  </a:txBody>
                  <a:tcPr>
                    <a:solidFill>
                      <a:srgbClr val="00B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90F1C"/>
                          </a:solidFill>
                        </a:defRPr>
                      </a:pPr>
                      <a:r>
                        <a:t>Confidentiality</a:t>
                      </a:r>
                    </a:p>
                  </a:txBody>
                  <a:tcPr>
                    <a:solidFill>
                      <a:srgbClr val="00B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90F1C"/>
                          </a:solidFill>
                        </a:defRPr>
                      </a:pPr>
                      <a:r>
                        <a:t>Integrity</a:t>
                      </a:r>
                    </a:p>
                  </a:txBody>
                  <a:tcPr>
                    <a:solidFill>
                      <a:srgbClr val="00B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90F1C"/>
                          </a:solidFill>
                        </a:defRPr>
                      </a:pPr>
                      <a:r>
                        <a:t>Availability</a:t>
                      </a:r>
                    </a:p>
                  </a:txBody>
                  <a:tcPr>
                    <a:solidFill>
                      <a:srgbClr val="00B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Eavesdropping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5A5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Phishing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5A5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Data modification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5A5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DoS / DDoS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5A5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8FC"/>
                          </a:solidFill>
                        </a:defRPr>
                      </a:pPr>
                      <a:r>
                        <a:t>Ransomware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5A5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5A5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5A5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5. Protection, Risk Reduction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CCD"/>
                </a:solidFill>
              </a:defRPr>
            </a:pPr>
            <a:r>
              <a:t>A strong security posture combines technology, processes and people.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3977639"/>
          </a:xfrm>
          <a:prstGeom prst="roundRect">
            <a:avLst/>
          </a:prstGeom>
          <a:solidFill>
            <a:srgbClr val="141E30"/>
          </a:solidFill>
          <a:ln>
            <a:solidFill>
              <a:srgbClr val="28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3977639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PROTECT</a:t>
            </a:r>
          </a:p>
          <a:p>
            <a:pPr>
              <a:spcBef>
                <a:spcPts val="900"/>
              </a:spcBef>
              <a:defRPr sz="1300">
                <a:solidFill>
                  <a:srgbClr val="AFBCCD"/>
                </a:solidFill>
              </a:defRPr>
            </a:pPr>
            <a:r>
              <a:t>• Access control &amp; MFA</a:t>
            </a:r>
            <a:br/>
            <a:r>
              <a:t>• Encryption</a:t>
            </a:r>
            <a:br/>
            <a:r>
              <a:t>• Firewalls &amp; endpoint security</a:t>
            </a:r>
            <a:br/>
            <a:r>
              <a:t>• Regular patching</a:t>
            </a:r>
            <a:br/>
            <a:r>
              <a:t>• Security awareness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3977639"/>
          </a:xfrm>
          <a:prstGeom prst="roundRect">
            <a:avLst/>
          </a:prstGeom>
          <a:solidFill>
            <a:srgbClr val="141E30"/>
          </a:solidFill>
          <a:ln>
            <a:solidFill>
              <a:srgbClr val="28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64008" cy="3977639"/>
          </a:xfrm>
          <a:prstGeom prst="rect">
            <a:avLst/>
          </a:prstGeom>
          <a:solidFill>
            <a:srgbClr val="50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RESPOND &amp; RECOVER</a:t>
            </a:r>
          </a:p>
          <a:p>
            <a:pPr>
              <a:spcBef>
                <a:spcPts val="900"/>
              </a:spcBef>
              <a:defRPr sz="1300">
                <a:solidFill>
                  <a:srgbClr val="AFBCCD"/>
                </a:solidFill>
              </a:defRPr>
            </a:pPr>
            <a:r>
              <a:t>• Monitor and detect incidents</a:t>
            </a:r>
            <a:br/>
            <a:r>
              <a:t>• Isolate affected systems</a:t>
            </a:r>
            <a:br/>
            <a:r>
              <a:t>• Maintain secure backups</a:t>
            </a:r>
            <a:br/>
            <a:r>
              <a:t>• Restore services quickly</a:t>
            </a:r>
            <a:br/>
            <a:r>
              <a:t>• Review and improve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20440" cy="3977639"/>
          </a:xfrm>
          <a:prstGeom prst="roundRect">
            <a:avLst/>
          </a:prstGeom>
          <a:solidFill>
            <a:srgbClr val="141E30"/>
          </a:solidFill>
          <a:ln>
            <a:solidFill>
              <a:srgbClr val="28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25880"/>
            <a:ext cx="64008" cy="3977639"/>
          </a:xfrm>
          <a:prstGeom prst="rect">
            <a:avLst/>
          </a:prstGeom>
          <a:solidFill>
            <a:srgbClr val="F5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08760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KEY TAKEAWAY</a:t>
            </a:r>
          </a:p>
          <a:p>
            <a:pPr>
              <a:spcBef>
                <a:spcPts val="900"/>
              </a:spcBef>
              <a:defRPr sz="1300">
                <a:solidFill>
                  <a:srgbClr val="AFBCCD"/>
                </a:solidFill>
              </a:defRPr>
            </a:pPr>
            <a:r>
              <a:t>Threats create potential danger.</a:t>
            </a:r>
            <a:br/>
            <a:br/>
            <a:r>
              <a:t>Attacks exploit weaknesses.</a:t>
            </a:r>
            <a:br/>
            <a:br/>
            <a:r>
              <a:t>Risks measure possible loss.</a:t>
            </a:r>
            <a:br/>
            <a:br/>
            <a:r>
              <a:t>Security controls protect:</a:t>
            </a:r>
            <a:br/>
            <a:r>
              <a:t>CONFIDENTIALITY • INTEGRITY • AVAILABILITY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A91F7-CDEC-B640-5048-332C30A8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F20F726-1EC8-2847-B672-314456B28C4C}"/>
              </a:ext>
            </a:extLst>
          </p:cNvPr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2B7FE-E222-7296-F063-36159C035045}"/>
              </a:ext>
            </a:extLst>
          </p:cNvPr>
          <p:cNvSpPr txBox="1"/>
          <p:nvPr/>
        </p:nvSpPr>
        <p:spPr>
          <a:xfrm>
            <a:off x="1523999" y="1396181"/>
            <a:ext cx="86425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solidFill>
                  <a:schemeClr val="bg1"/>
                </a:solidFill>
              </a:rPr>
              <a:t>                                                              Conclusion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Security threats can exploit vulnerabilities and create significant risks.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Attacks can negatively affect </a:t>
            </a:r>
            <a:r>
              <a:rPr lang="en-IN" b="1" dirty="0">
                <a:solidFill>
                  <a:schemeClr val="bg1"/>
                </a:solidFill>
              </a:rPr>
              <a:t>Confidentiality, Integrity, and Availability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A combination of technology, policies, employee awareness, and continuous monitoring is essential for effective cybersecurity.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8588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0A69E-388E-0DCA-B504-D09FC1D4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31D39C3-F66D-40F1-9555-F4A2D7DF9BE2}"/>
              </a:ext>
            </a:extLst>
          </p:cNvPr>
          <p:cNvSpPr txBox="1"/>
          <p:nvPr/>
        </p:nvSpPr>
        <p:spPr>
          <a:xfrm>
            <a:off x="4983629" y="2981280"/>
            <a:ext cx="1283941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5F8FC"/>
                </a:solidFill>
              </a:defRPr>
            </a:pPr>
            <a:r>
              <a:rPr dirty="0"/>
              <a:t>Thank You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8B6D44-DBE8-0C73-1C6B-558FD361BD28}"/>
              </a:ext>
            </a:extLst>
          </p:cNvPr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D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7335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489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 Vasureddy</dc:creator>
  <cp:keywords/>
  <dc:description>generated using python-pptx</dc:description>
  <cp:lastModifiedBy>kandula vasu deva reddy</cp:lastModifiedBy>
  <cp:revision>2</cp:revision>
  <dcterms:created xsi:type="dcterms:W3CDTF">2013-01-27T09:14:16Z</dcterms:created>
  <dcterms:modified xsi:type="dcterms:W3CDTF">2026-10-08T03:28:54Z</dcterms:modified>
  <cp:category/>
</cp:coreProperties>
</file>